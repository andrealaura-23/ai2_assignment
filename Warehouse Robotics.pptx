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57" r:id="rId7"/>
    <p:sldId id="264" r:id="rId8"/>
    <p:sldId id="265" r:id="rId9"/>
    <p:sldId id="266" r:id="rId10"/>
    <p:sldId id="260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DAC1D-6D47-4495-A644-D232454BC0F5}" v="103" dt="2026-06-09T07:47:21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58" d="100"/>
          <a:sy n="58" d="100"/>
        </p:scale>
        <p:origin x="6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9897"/>
          </a:xfrm>
        </p:spPr>
        <p:txBody>
          <a:bodyPr anchor="ctr">
            <a:normAutofit/>
          </a:bodyPr>
          <a:lstStyle/>
          <a:p>
            <a:pPr algn="ctr"/>
            <a:r>
              <a:rPr lang="en-GB" sz="3300" dirty="0"/>
              <a:t>Warehouse Robotics</a:t>
            </a:r>
            <a:br>
              <a:rPr lang="en-GB" sz="3300" dirty="0"/>
            </a:br>
            <a:r>
              <a:rPr lang="en-GB" sz="800" dirty="0">
                <a:solidFill>
                  <a:schemeClr val="accent1"/>
                </a:solidFill>
              </a:rPr>
              <a:t>.</a:t>
            </a:r>
            <a:br>
              <a:rPr lang="en-GB" sz="3300" dirty="0"/>
            </a:br>
            <a:r>
              <a:rPr lang="en-GB" sz="3300" dirty="0"/>
              <a:t>Priority Deliveries and Deadlines</a:t>
            </a:r>
            <a:endParaRPr lang="en-US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4" y="2329132"/>
            <a:ext cx="5716586" cy="4028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Artificial Intelligence 2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PDDL &amp; PDDL+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Andrea Laura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4D2A1-5855-6F77-2969-1E4F55131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8" r="10787"/>
          <a:stretch>
            <a:fillRect/>
          </a:stretch>
        </p:blipFill>
        <p:spPr>
          <a:xfrm>
            <a:off x="4436363" y="2329132"/>
            <a:ext cx="6611047" cy="4123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93962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Scenario</a:t>
            </a:r>
            <a:br>
              <a:rPr lang="en-US" sz="4400" dirty="0">
                <a:latin typeface="Rockwell" panose="02060603020205020403" pitchFamily="18" charset="0"/>
              </a:rPr>
            </a:br>
            <a:r>
              <a:rPr lang="en-US" sz="800" dirty="0">
                <a:solidFill>
                  <a:schemeClr val="accent1"/>
                </a:solidFill>
                <a:latin typeface="Rockwell" panose="02060603020205020403" pitchFamily="18" charset="0"/>
              </a:rPr>
              <a:t>.</a:t>
            </a:r>
            <a:br>
              <a:rPr lang="en-US" sz="4400" dirty="0">
                <a:latin typeface="Rockwell" panose="02060603020205020403" pitchFamily="18" charset="0"/>
              </a:rPr>
            </a:br>
            <a:r>
              <a:rPr lang="en-GB" sz="2200" dirty="0"/>
              <a:t>A warehouse logistics scenario where autonomous robots deliver packages while managing priorities and deadlines through intelligent scheduling.</a:t>
            </a:r>
            <a:endParaRPr lang="en-US" sz="22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2558142"/>
            <a:ext cx="4530520" cy="38356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200" b="1" dirty="0"/>
              <a:t>Problem Statement</a:t>
            </a:r>
          </a:p>
          <a:p>
            <a:r>
              <a:rPr lang="en-GB" dirty="0"/>
              <a:t>Autonomous robots deliver packages </a:t>
            </a:r>
          </a:p>
          <a:p>
            <a:r>
              <a:rPr lang="en-GB" dirty="0"/>
              <a:t>Some packages are urgent </a:t>
            </a:r>
          </a:p>
          <a:p>
            <a:r>
              <a:rPr lang="en-GB" dirty="0"/>
              <a:t>Deliveries have deadlines </a:t>
            </a:r>
          </a:p>
          <a:p>
            <a:r>
              <a:rPr lang="en-GB" dirty="0"/>
              <a:t>Multiple robots operate simultaneously </a:t>
            </a:r>
          </a:p>
          <a:p>
            <a:r>
              <a:rPr lang="en-GB" dirty="0"/>
              <a:t>Need efficient scheduling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183FF4-4DF0-93E0-CA35-00A08CCE8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70643" y="2558142"/>
            <a:ext cx="4076768" cy="352697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200" b="1" dirty="0"/>
              <a:t>Goal</a:t>
            </a:r>
          </a:p>
          <a:p>
            <a:pPr marL="0" indent="0">
              <a:buNone/>
            </a:pPr>
            <a:r>
              <a:rPr lang="en-GB" dirty="0"/>
              <a:t>Deliver all packages respecting: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Priorities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Deadlines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Cost minimization</a:t>
            </a:r>
          </a:p>
          <a:p>
            <a:pPr marL="0" indent="0">
              <a:buNone/>
            </a:pPr>
            <a:endParaRPr lang="en-GB" sz="3200" b="1" dirty="0"/>
          </a:p>
          <a:p>
            <a:pPr marL="0" indent="0">
              <a:buNone/>
            </a:pP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Basic </a:t>
            </a:r>
            <a:r>
              <a:rPr lang="en-US" sz="4400" dirty="0" err="1">
                <a:latin typeface="Rockwell" panose="02060603020205020403" pitchFamily="18" charset="0"/>
              </a:rPr>
              <a:t>pddl</a:t>
            </a:r>
            <a:r>
              <a:rPr lang="en-US" sz="4400" dirty="0">
                <a:latin typeface="Rockwell" panose="02060603020205020403" pitchFamily="18" charset="0"/>
              </a:rPr>
              <a:t>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07044-4404-D67C-5B6C-B3FC8357F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1816274"/>
            <a:ext cx="4878392" cy="688931"/>
          </a:xfrm>
        </p:spPr>
        <p:txBody>
          <a:bodyPr>
            <a:noAutofit/>
          </a:bodyPr>
          <a:lstStyle/>
          <a:p>
            <a:r>
              <a:rPr lang="en-GB" sz="3200" b="1" dirty="0"/>
              <a:t>Domain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B3472C-FAC6-16FF-484C-E6E2B5B71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5748" y="1816274"/>
            <a:ext cx="4671662" cy="688931"/>
          </a:xfrm>
        </p:spPr>
        <p:txBody>
          <a:bodyPr>
            <a:noAutofit/>
          </a:bodyPr>
          <a:lstStyle/>
          <a:p>
            <a:r>
              <a:rPr lang="en-GB" sz="3200" b="1" dirty="0"/>
              <a:t>problems</a:t>
            </a:r>
            <a:endParaRPr lang="en-GB" sz="28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6C8F66-FD7A-746A-A0CE-3CD009CF2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5748" y="2505205"/>
            <a:ext cx="4671662" cy="328599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Problem with NO urgency or deadlines</a:t>
            </a:r>
          </a:p>
          <a:p>
            <a:r>
              <a:rPr lang="en-GB" dirty="0"/>
              <a:t>Problem with priority packages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EADF19-E20B-657E-98AA-E22445D33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505205"/>
            <a:ext cx="4878391" cy="3733668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Domain Characteristics: </a:t>
            </a:r>
            <a:r>
              <a:rPr lang="en-GB" dirty="0"/>
              <a:t>robots, tasks, constraints</a:t>
            </a:r>
          </a:p>
          <a:p>
            <a:r>
              <a:rPr lang="en-GB" b="1" dirty="0"/>
              <a:t>Predicates</a:t>
            </a:r>
            <a:r>
              <a:rPr lang="en-GB" dirty="0"/>
              <a:t>: at, package-at, free, delivered, destination, connected, priority levels (high, medium, low), must-before</a:t>
            </a:r>
          </a:p>
          <a:p>
            <a:r>
              <a:rPr lang="en-GB" b="1" dirty="0"/>
              <a:t>Functions: </a:t>
            </a:r>
            <a:r>
              <a:rPr lang="en-GB" dirty="0"/>
              <a:t>total-cost</a:t>
            </a:r>
          </a:p>
          <a:p>
            <a:r>
              <a:rPr lang="en-GB" b="1" dirty="0"/>
              <a:t>Actions: </a:t>
            </a:r>
            <a:r>
              <a:rPr lang="en-GB" dirty="0"/>
              <a:t>move, pick up, deliver</a:t>
            </a: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allAtOnce"/>
      <p:bldP spid="10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F4AC-CB20-3169-28CD-89226A2D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PROblem</a:t>
            </a:r>
            <a:r>
              <a:rPr lang="en-GB" dirty="0"/>
              <a:t> with no urgency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B435-F64F-4D0E-DE64-C8F83D1D2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004164"/>
            <a:ext cx="4878389" cy="42353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Baseline scenario:</a:t>
            </a:r>
          </a:p>
          <a:p>
            <a:r>
              <a:rPr lang="en-GB" dirty="0"/>
              <a:t>2 robots</a:t>
            </a:r>
          </a:p>
          <a:p>
            <a:r>
              <a:rPr lang="en-GB" dirty="0"/>
              <a:t>4 packages</a:t>
            </a:r>
          </a:p>
          <a:p>
            <a:r>
              <a:rPr lang="en-GB" dirty="0"/>
              <a:t>4 customer locations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 priority constraints are included and no </a:t>
            </a:r>
            <a:r>
              <a:rPr lang="en-GB" i="1" dirty="0"/>
              <a:t>must-before</a:t>
            </a:r>
            <a:r>
              <a:rPr lang="en-GB" dirty="0"/>
              <a:t> predicates.</a:t>
            </a:r>
          </a:p>
          <a:p>
            <a:pPr marL="0" indent="0">
              <a:buNone/>
            </a:pPr>
            <a:r>
              <a:rPr lang="en-GB" dirty="0"/>
              <a:t>The planner is free to choose any delivery order minimizing the total cost.</a:t>
            </a:r>
          </a:p>
          <a:p>
            <a:pPr marL="0" indent="0">
              <a:buNone/>
            </a:pPr>
            <a:r>
              <a:rPr lang="en-GB" dirty="0"/>
              <a:t>Robots return to the warehouse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1E6AA5-E163-49FB-8EC8-1AB4D34055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1277" y="1891429"/>
            <a:ext cx="4306134" cy="42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0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5F5D-196C-7A72-360C-C991A85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with package 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4067-DCE5-C501-C001-39F614FBF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923387"/>
            <a:ext cx="4878389" cy="43160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Package are classified as 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Ordering constraints: </a:t>
            </a:r>
            <a:r>
              <a:rPr lang="en-GB" i="1" dirty="0"/>
              <a:t>must-before</a:t>
            </a:r>
          </a:p>
          <a:p>
            <a:pPr marL="0" indent="0">
              <a:buNone/>
            </a:pPr>
            <a:r>
              <a:rPr lang="en-GB" dirty="0"/>
              <a:t>This forces high-priority packages to be delivered before medium-priority packages and before low-priority ones.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682DF9-DF64-66B3-DBF9-8A1C4E086C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65094" y="2538169"/>
            <a:ext cx="2152950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D6F996-0DA7-9E51-1633-F17278CE8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983" y="1923387"/>
            <a:ext cx="4677428" cy="464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6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4FDA-047A-9828-E687-1C8D5C61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 err="1">
                <a:latin typeface="Rockwell" panose="02060603020205020403" pitchFamily="18" charset="0"/>
              </a:rPr>
              <a:t>Pddl</a:t>
            </a:r>
            <a:r>
              <a:rPr lang="en-GB" sz="4400" dirty="0">
                <a:latin typeface="Rockwell" panose="02060603020205020403" pitchFamily="18" charset="0"/>
              </a:rPr>
              <a:t>+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83A7D-D8DF-8805-78F4-39B91C0AA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1595437"/>
            <a:ext cx="4878392" cy="884715"/>
          </a:xfrm>
        </p:spPr>
        <p:txBody>
          <a:bodyPr>
            <a:normAutofit/>
          </a:bodyPr>
          <a:lstStyle/>
          <a:p>
            <a:r>
              <a:rPr lang="en-GB" sz="3200" b="1" dirty="0"/>
              <a:t>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5785-6F07-E05E-FA42-B17CA2001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605412"/>
            <a:ext cx="4878391" cy="3807914"/>
          </a:xfrm>
        </p:spPr>
        <p:txBody>
          <a:bodyPr>
            <a:noAutofit/>
          </a:bodyPr>
          <a:lstStyle/>
          <a:p>
            <a:r>
              <a:rPr lang="en-GB" sz="2000" dirty="0"/>
              <a:t>Introducing a process modelling time progression called </a:t>
            </a:r>
            <a:r>
              <a:rPr lang="en-GB" sz="2000" i="1" dirty="0"/>
              <a:t>time-passing</a:t>
            </a:r>
            <a:r>
              <a:rPr lang="en-GB" sz="2000" dirty="0"/>
              <a:t>.</a:t>
            </a:r>
          </a:p>
          <a:p>
            <a:r>
              <a:rPr lang="en-GB" sz="2000" dirty="0"/>
              <a:t>Numerical representation of package priorities and deadlines.</a:t>
            </a:r>
          </a:p>
          <a:p>
            <a:r>
              <a:rPr lang="en-GB" sz="2000" dirty="0"/>
              <a:t>Delivery and return activities are executed through a </a:t>
            </a:r>
            <a:r>
              <a:rPr lang="en-GB" sz="2000" i="1" dirty="0" err="1"/>
              <a:t>continuos</a:t>
            </a:r>
            <a:r>
              <a:rPr lang="en-GB" sz="2000" i="1" dirty="0"/>
              <a:t> process</a:t>
            </a:r>
          </a:p>
          <a:p>
            <a:r>
              <a:rPr lang="en-GB" sz="2000" dirty="0"/>
              <a:t>A </a:t>
            </a:r>
            <a:r>
              <a:rPr lang="en-GB" sz="2000" i="1" dirty="0"/>
              <a:t>deadline-violation</a:t>
            </a:r>
            <a:r>
              <a:rPr lang="en-GB" sz="2000" dirty="0"/>
              <a:t> event makes the plan unsolvable when a package exceeds its deadline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7662D-1A4D-A922-5D87-AC4692E8F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1" y="1510505"/>
            <a:ext cx="4646602" cy="881965"/>
          </a:xfrm>
        </p:spPr>
        <p:txBody>
          <a:bodyPr>
            <a:normAutofit/>
          </a:bodyPr>
          <a:lstStyle/>
          <a:p>
            <a:r>
              <a:rPr lang="en-GB" sz="3200" b="1" dirty="0"/>
              <a:t>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6E7894-002A-5097-EE6E-997055151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605412"/>
            <a:ext cx="4875210" cy="2630467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2 Robots (r1, r2)</a:t>
            </a:r>
          </a:p>
          <a:p>
            <a:r>
              <a:rPr lang="en-GB" dirty="0"/>
              <a:t>5 Packages and 5 customer locations</a:t>
            </a:r>
          </a:p>
          <a:p>
            <a:r>
              <a:rPr lang="en-GB" dirty="0"/>
              <a:t>Delivery </a:t>
            </a:r>
            <a:r>
              <a:rPr lang="en-GB"/>
              <a:t>and return </a:t>
            </a:r>
            <a:r>
              <a:rPr lang="en-GB" dirty="0"/>
              <a:t>durations</a:t>
            </a:r>
          </a:p>
          <a:p>
            <a:r>
              <a:rPr lang="en-GB" dirty="0"/>
              <a:t>Deadlines</a:t>
            </a:r>
          </a:p>
          <a:p>
            <a:r>
              <a:rPr lang="en-GB" dirty="0"/>
              <a:t>Priority values for each package</a:t>
            </a:r>
          </a:p>
          <a:p>
            <a:pPr marL="0" indent="0">
              <a:buNone/>
            </a:pPr>
            <a:r>
              <a:rPr lang="en-GB" dirty="0"/>
              <a:t>The goal requires: all packages to be delivered and no deadline violation.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5DC0C0-3D06-B0FD-73DF-90E81214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71" y="5110619"/>
            <a:ext cx="5119267" cy="139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3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7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Plan </a:t>
            </a:r>
            <a:r>
              <a:rPr lang="en-US" sz="4400" dirty="0" err="1">
                <a:latin typeface="Rockwell" panose="02060603020205020403" pitchFamily="18" charset="0"/>
              </a:rPr>
              <a:t>pddl</a:t>
            </a:r>
            <a:r>
              <a:rPr lang="en-US" sz="4400" dirty="0">
                <a:latin typeface="Rockwell" panose="02060603020205020403" pitchFamily="18" charset="0"/>
              </a:rPr>
              <a:t>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2469736"/>
            <a:ext cx="4878389" cy="319933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ENHSP Planner successfully generated a feasible temporal schedule that satisfies all delivery deadlines while efficiently coordinating concurrent robot operations.</a:t>
            </a: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7FFE58-C853-912B-4913-70388CCF64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1112" y="1177515"/>
            <a:ext cx="4694805" cy="486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A4794F8-EA8F-27D6-2433-85FCA880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Rockwell" panose="02060603020205020403" pitchFamily="18" charset="0"/>
              </a:rPr>
              <a:t>Plan</a:t>
            </a:r>
            <a:r>
              <a:rPr lang="en-GB" dirty="0"/>
              <a:t> </a:t>
            </a:r>
            <a:r>
              <a:rPr lang="en-GB" sz="4400" dirty="0">
                <a:latin typeface="Rockwell" panose="02060603020205020403" pitchFamily="18" charset="0"/>
              </a:rPr>
              <a:t>unsolvable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F70696-3A15-9FFF-AC3E-2C22313AAD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a package exceeds its deadline, a </a:t>
            </a:r>
            <a:r>
              <a:rPr lang="en-GB" i="1" dirty="0"/>
              <a:t>deadline-violation</a:t>
            </a:r>
            <a:r>
              <a:rPr lang="en-GB" dirty="0"/>
              <a:t> event is triggered. Since the goal requires all packages to be delivered on time, the planner correctly reports the problem as unsolvable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1007BAC-B4F8-AD38-6D9B-BE6F333A01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4679" y="1033856"/>
            <a:ext cx="3641152" cy="503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0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A0E8-9967-AE2F-A0F1-833B7044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ED024-4E06-3E2A-F279-75CDE460E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097089"/>
            <a:ext cx="9905998" cy="394045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Classical PDDL</a:t>
            </a:r>
            <a:r>
              <a:rPr lang="en-GB" dirty="0"/>
              <a:t> models package urgency through precedence constraints and generates valid delivery sequences.</a:t>
            </a:r>
          </a:p>
          <a:p>
            <a:r>
              <a:rPr lang="en-GB" b="1" dirty="0"/>
              <a:t>PDDL+</a:t>
            </a:r>
            <a:r>
              <a:rPr lang="en-GB" dirty="0"/>
              <a:t> extends the model with explicit temporal reasoning, delivery durations, and deadline management.</a:t>
            </a:r>
          </a:p>
          <a:p>
            <a:r>
              <a:rPr lang="en-GB" dirty="0"/>
              <a:t>Temporal planning allows the planner to evaluate </a:t>
            </a:r>
            <a:r>
              <a:rPr lang="en-GB" b="1" dirty="0"/>
              <a:t>schedule feasibility</a:t>
            </a:r>
            <a:r>
              <a:rPr lang="en-GB" dirty="0"/>
              <a:t> and detect deadline violations.</a:t>
            </a:r>
          </a:p>
          <a:p>
            <a:r>
              <a:rPr lang="en-GB" dirty="0"/>
              <a:t>The proposed models can be easily extended to larger and more realistic warehouse logistics scenarios.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57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E5D29A-AF1A-4711-73A5-4A29E35FDC4B}"/>
              </a:ext>
            </a:extLst>
          </p:cNvPr>
          <p:cNvSpPr/>
          <p:nvPr/>
        </p:nvSpPr>
        <p:spPr>
          <a:xfrm>
            <a:off x="3795386" y="2967335"/>
            <a:ext cx="41304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88762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Warehouse Robotics</Template>
  <TotalTime>2</TotalTime>
  <Words>405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Rockwell</vt:lpstr>
      <vt:lpstr>Tahoma</vt:lpstr>
      <vt:lpstr>Tw Cen MT</vt:lpstr>
      <vt:lpstr>Circuit</vt:lpstr>
      <vt:lpstr>Warehouse Robotics . Priority Deliveries and Deadlines</vt:lpstr>
      <vt:lpstr>Scenario . A warehouse logistics scenario where autonomous robots deliver packages while managing priorities and deadlines through intelligent scheduling.</vt:lpstr>
      <vt:lpstr>Basic pddl model</vt:lpstr>
      <vt:lpstr>PROblem with no urgency</vt:lpstr>
      <vt:lpstr>Problem with package priorities</vt:lpstr>
      <vt:lpstr>Pddl+ model</vt:lpstr>
      <vt:lpstr>Plan pddl+</vt:lpstr>
      <vt:lpstr>Plan unsolvable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Laura</dc:creator>
  <cp:lastModifiedBy>Andrea Laura</cp:lastModifiedBy>
  <cp:revision>1</cp:revision>
  <dcterms:created xsi:type="dcterms:W3CDTF">2026-06-18T15:24:16Z</dcterms:created>
  <dcterms:modified xsi:type="dcterms:W3CDTF">2026-06-18T15:27:13Z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